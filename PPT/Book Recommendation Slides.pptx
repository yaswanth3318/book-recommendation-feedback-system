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8"/>
  </p:notesMasterIdLst>
  <p:sldIdLst>
    <p:sldId id="256" r:id="rId2"/>
    <p:sldId id="260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6" r:id="rId13"/>
    <p:sldId id="273" r:id="rId14"/>
    <p:sldId id="274" r:id="rId15"/>
    <p:sldId id="275" r:id="rId16"/>
    <p:sldId id="258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Figtree ExtraBold" panose="020B0604020202020204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15fdf8c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15fdf8c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17c8bc0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17c8bc0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you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1" y="0"/>
            <a:ext cx="914252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250" y="712400"/>
            <a:ext cx="2879527" cy="13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88475" y="3559175"/>
            <a:ext cx="9093300" cy="7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Figtree ExtraBold"/>
              <a:buNone/>
              <a:defRPr sz="51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you slide 1">
  <p:cSld name="TITLE_AND_BODY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1" y="0"/>
            <a:ext cx="914252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250" y="712400"/>
            <a:ext cx="2879527" cy="13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8475" y="3559175"/>
            <a:ext cx="9093300" cy="7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Figtree ExtraBold"/>
              <a:buNone/>
              <a:defRPr sz="51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Font typeface="Figtree ExtraBold"/>
              <a:buNone/>
              <a:defRPr sz="61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88475" y="3559175"/>
            <a:ext cx="9093300" cy="7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FBB65B-57BE-F345-6D61-260BC5041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13" y="347040"/>
            <a:ext cx="7354957" cy="1838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BCE9AE-1014-2633-A41F-36FC0AF298BE}"/>
              </a:ext>
            </a:extLst>
          </p:cNvPr>
          <p:cNvSpPr txBox="1"/>
          <p:nvPr/>
        </p:nvSpPr>
        <p:spPr>
          <a:xfrm>
            <a:off x="1916206" y="2279362"/>
            <a:ext cx="53115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Recommender System </a:t>
            </a:r>
          </a:p>
        </p:txBody>
      </p:sp>
    </p:spTree>
    <p:extLst>
      <p:ext uri="{BB962C8B-B14F-4D97-AF65-F5344CB8AC3E}">
        <p14:creationId xmlns:p14="http://schemas.microsoft.com/office/powerpoint/2010/main" val="291523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81A13B-2112-5F54-0F9A-6B9FD21D799B}"/>
              </a:ext>
            </a:extLst>
          </p:cNvPr>
          <p:cNvSpPr txBox="1"/>
          <p:nvPr/>
        </p:nvSpPr>
        <p:spPr>
          <a:xfrm>
            <a:off x="537882" y="571500"/>
            <a:ext cx="82497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/>
              <a:t>Recommender System</a:t>
            </a:r>
          </a:p>
          <a:p>
            <a:endParaRPr lang="en-US" dirty="0"/>
          </a:p>
          <a:p>
            <a:r>
              <a:rPr lang="en-US" dirty="0"/>
              <a:t>Recommendation systems, or recommender systems, are software engines designed to suggest items to users depending on previous likes, dislikes, interests, product engagement and interaction, etc. </a:t>
            </a:r>
          </a:p>
          <a:p>
            <a:endParaRPr lang="en-US" dirty="0"/>
          </a:p>
          <a:p>
            <a:r>
              <a:rPr lang="en-US" dirty="0"/>
              <a:t>Recommender systems keep users interested in the site.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05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9A5619-3AB4-9782-1359-771629EF3F7B}"/>
              </a:ext>
            </a:extLst>
          </p:cNvPr>
          <p:cNvSpPr txBox="1"/>
          <p:nvPr/>
        </p:nvSpPr>
        <p:spPr>
          <a:xfrm>
            <a:off x="255494" y="387356"/>
            <a:ext cx="6555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We are surrounded with Recommender systems: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84084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AECDBA-5F6E-6D1B-8598-CFF8B3AC76A7}"/>
              </a:ext>
            </a:extLst>
          </p:cNvPr>
          <p:cNvSpPr txBox="1"/>
          <p:nvPr/>
        </p:nvSpPr>
        <p:spPr>
          <a:xfrm>
            <a:off x="255495" y="439982"/>
            <a:ext cx="863301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Why Recommender Systems : </a:t>
            </a:r>
          </a:p>
          <a:p>
            <a:endParaRPr lang="en-US" dirty="0"/>
          </a:p>
          <a:p>
            <a:r>
              <a:rPr lang="en-US" dirty="0"/>
              <a:t>1. To Increase Sales</a:t>
            </a:r>
          </a:p>
          <a:p>
            <a:r>
              <a:rPr lang="en-US" dirty="0"/>
              <a:t>2. To decrease load on the system </a:t>
            </a:r>
          </a:p>
          <a:p>
            <a:r>
              <a:rPr lang="en-US" dirty="0"/>
              <a:t>3. Increasing engagement and Satisfaction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31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DB98A-F0C0-723F-E46E-5C7B031D5B5B}"/>
              </a:ext>
            </a:extLst>
          </p:cNvPr>
          <p:cNvSpPr txBox="1"/>
          <p:nvPr/>
        </p:nvSpPr>
        <p:spPr>
          <a:xfrm>
            <a:off x="255495" y="439982"/>
            <a:ext cx="8633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Types of Recommender Systems : </a:t>
            </a:r>
          </a:p>
          <a:p>
            <a:endParaRPr lang="en-US" dirty="0"/>
          </a:p>
          <a:p>
            <a:r>
              <a:rPr lang="en-US" dirty="0"/>
              <a:t>1. Popularity Based Recommender System</a:t>
            </a:r>
          </a:p>
          <a:p>
            <a:r>
              <a:rPr lang="en-US" dirty="0"/>
              <a:t>2. Content Based Recommendation System </a:t>
            </a:r>
          </a:p>
          <a:p>
            <a:r>
              <a:rPr lang="en-US" dirty="0"/>
              <a:t>3. Collaborative filtering system</a:t>
            </a:r>
          </a:p>
          <a:p>
            <a:r>
              <a:rPr lang="en-US" dirty="0"/>
              <a:t>4. Hybrid Recommendation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125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79F9BD-3618-BC69-B28A-CA2A0B79F81F}"/>
              </a:ext>
            </a:extLst>
          </p:cNvPr>
          <p:cNvSpPr txBox="1"/>
          <p:nvPr/>
        </p:nvSpPr>
        <p:spPr>
          <a:xfrm>
            <a:off x="255495" y="439982"/>
            <a:ext cx="863301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Popularity Based Recommender Systems :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Popularity Based Recommender System : Using the avg rating a book got from a user we will find the best book rank and using that rank we will suggest that list of books to all universally. 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5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CCC43-F0C2-765F-F404-1CD80081A5D5}"/>
              </a:ext>
            </a:extLst>
          </p:cNvPr>
          <p:cNvSpPr txBox="1"/>
          <p:nvPr/>
        </p:nvSpPr>
        <p:spPr>
          <a:xfrm>
            <a:off x="255495" y="439982"/>
            <a:ext cx="863301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Collaborative filtering system </a:t>
            </a:r>
            <a:r>
              <a:rPr lang="en-US" sz="2000" b="1" dirty="0"/>
              <a:t>: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Collaborative filtering system : Based on the ratings given by different user we will try to find similar books and recommend them based on the choice they make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8B2F8-7154-E324-08F2-ABAA0B32EA54}"/>
              </a:ext>
            </a:extLst>
          </p:cNvPr>
          <p:cNvSpPr txBox="1"/>
          <p:nvPr/>
        </p:nvSpPr>
        <p:spPr>
          <a:xfrm>
            <a:off x="433668" y="1996888"/>
            <a:ext cx="827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are using cosine similarity algorithm to find similarity between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2931F9-8984-8346-F67A-9FA8E67BA5CF}"/>
                  </a:ext>
                </a:extLst>
              </p:cNvPr>
              <p:cNvSpPr txBox="1"/>
              <p:nvPr/>
            </p:nvSpPr>
            <p:spPr>
              <a:xfrm>
                <a:off x="2661117" y="2924524"/>
                <a:ext cx="3821765" cy="7365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nary>
                              <m:naryPr>
                                <m:chr m:val="∑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rad>
                      </m:den>
                    </m:f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2931F9-8984-8346-F67A-9FA8E67BA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117" y="2924524"/>
                <a:ext cx="3821765" cy="736548"/>
              </a:xfrm>
              <a:prstGeom prst="rect">
                <a:avLst/>
              </a:prstGeom>
              <a:blipFill>
                <a:blip r:embed="rId2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312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chine Learning Fundamentals: Cosine Similarity and Cosine Distance | by  Sindhu Seelam | Geek Culture | Medium">
            <a:extLst>
              <a:ext uri="{FF2B5EF4-FFF2-40B4-BE49-F238E27FC236}">
                <a16:creationId xmlns:a16="http://schemas.microsoft.com/office/drawing/2014/main" id="{671CB59C-1069-9016-FBA3-8ACF96B5A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195" y="3217108"/>
            <a:ext cx="4366371" cy="192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82C001-8EEB-240E-CF01-C5929E6D160D}"/>
                  </a:ext>
                </a:extLst>
              </p:cNvPr>
              <p:cNvSpPr txBox="1"/>
              <p:nvPr/>
            </p:nvSpPr>
            <p:spPr>
              <a:xfrm>
                <a:off x="443753" y="3812030"/>
                <a:ext cx="3821765" cy="7365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nary>
                              <m:naryPr>
                                <m:chr m:val="∑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rad>
                      </m:den>
                    </m:f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82C001-8EEB-240E-CF01-C5929E6D1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3" y="3812030"/>
                <a:ext cx="3821765" cy="736548"/>
              </a:xfrm>
              <a:prstGeom prst="rect">
                <a:avLst/>
              </a:prstGeom>
              <a:blipFill>
                <a:blip r:embed="rId3"/>
                <a:stretch>
                  <a:fillRect b="-1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66495F9-DFE8-0C05-137A-C624ED62797E}"/>
              </a:ext>
            </a:extLst>
          </p:cNvPr>
          <p:cNvSpPr txBox="1"/>
          <p:nvPr/>
        </p:nvSpPr>
        <p:spPr>
          <a:xfrm>
            <a:off x="443753" y="441033"/>
            <a:ext cx="827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each book different user ratings are written as a vector and similarity between each books user vector is calculated using cosine similarity which is the cos value between each vector.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5A0B59-14E3-1F0E-8601-CD6B31817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393" y="1219200"/>
            <a:ext cx="42862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28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chine Learning Fundamentals: Cosine Similarity and Cosine Distance | by  Sindhu Seelam | Geek Culture | Medium">
            <a:extLst>
              <a:ext uri="{FF2B5EF4-FFF2-40B4-BE49-F238E27FC236}">
                <a16:creationId xmlns:a16="http://schemas.microsoft.com/office/drawing/2014/main" id="{671CB59C-1069-9016-FBA3-8ACF96B5A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195" y="3217108"/>
            <a:ext cx="4366371" cy="192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82C001-8EEB-240E-CF01-C5929E6D160D}"/>
                  </a:ext>
                </a:extLst>
              </p:cNvPr>
              <p:cNvSpPr txBox="1"/>
              <p:nvPr/>
            </p:nvSpPr>
            <p:spPr>
              <a:xfrm>
                <a:off x="443753" y="3812030"/>
                <a:ext cx="3821765" cy="7365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nary>
                              <m:naryPr>
                                <m:chr m:val="∑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rad>
                      </m:den>
                    </m:f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82C001-8EEB-240E-CF01-C5929E6D1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3" y="3812030"/>
                <a:ext cx="3821765" cy="736548"/>
              </a:xfrm>
              <a:prstGeom prst="rect">
                <a:avLst/>
              </a:prstGeom>
              <a:blipFill>
                <a:blip r:embed="rId3"/>
                <a:stretch>
                  <a:fillRect b="-1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95A0B59-14E3-1F0E-8601-CD6B31817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10" y="1051334"/>
            <a:ext cx="3699605" cy="11674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B6398C1-153F-B389-630E-D129B4B1D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052" y="1049363"/>
            <a:ext cx="3634099" cy="116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7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7EB5D7-64A6-67E9-05DF-61B59263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40" y="2095500"/>
            <a:ext cx="36766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1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E987DA-D922-CB39-0B7D-026A391B6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262" y="354101"/>
            <a:ext cx="6606885" cy="4789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F5E008-187D-7344-1DD9-FF420ABD5A39}"/>
              </a:ext>
            </a:extLst>
          </p:cNvPr>
          <p:cNvSpPr txBox="1"/>
          <p:nvPr/>
        </p:nvSpPr>
        <p:spPr>
          <a:xfrm>
            <a:off x="316006" y="35410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Data </a:t>
            </a:r>
          </a:p>
          <a:p>
            <a:endParaRPr lang="en-US" b="1" dirty="0"/>
          </a:p>
          <a:p>
            <a:pPr marL="285750" indent="-285750">
              <a:buFontTx/>
              <a:buChar char="-"/>
            </a:pPr>
            <a:r>
              <a:rPr lang="en-US" sz="1400" dirty="0"/>
              <a:t>3 Files </a:t>
            </a:r>
          </a:p>
        </p:txBody>
      </p:sp>
    </p:spTree>
    <p:extLst>
      <p:ext uri="{BB962C8B-B14F-4D97-AF65-F5344CB8AC3E}">
        <p14:creationId xmlns:p14="http://schemas.microsoft.com/office/powerpoint/2010/main" val="234421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EDE2BC-FEA3-3667-0C27-1F52D313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785059"/>
            <a:ext cx="8915400" cy="4191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613ACC-9B08-53E0-3BB8-9AE40B6C9F48}"/>
              </a:ext>
            </a:extLst>
          </p:cNvPr>
          <p:cNvSpPr txBox="1"/>
          <p:nvPr/>
        </p:nvSpPr>
        <p:spPr>
          <a:xfrm>
            <a:off x="114300" y="161365"/>
            <a:ext cx="891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Used Section</a:t>
            </a:r>
          </a:p>
        </p:txBody>
      </p:sp>
    </p:spTree>
    <p:extLst>
      <p:ext uri="{BB962C8B-B14F-4D97-AF65-F5344CB8AC3E}">
        <p14:creationId xmlns:p14="http://schemas.microsoft.com/office/powerpoint/2010/main" val="392407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8C96A-CDF2-7441-B43D-7E6FA402C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051"/>
            <a:ext cx="9144000" cy="3819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20129B-0477-A5B6-9D40-C31EF9218F80}"/>
              </a:ext>
            </a:extLst>
          </p:cNvPr>
          <p:cNvSpPr txBox="1"/>
          <p:nvPr/>
        </p:nvSpPr>
        <p:spPr>
          <a:xfrm>
            <a:off x="114300" y="161365"/>
            <a:ext cx="891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Top 50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92679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75EC3-E2B1-DE70-AD1D-24220E502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054"/>
            <a:ext cx="9144000" cy="2451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B0302-67C5-196F-58C7-2562F03D1B54}"/>
              </a:ext>
            </a:extLst>
          </p:cNvPr>
          <p:cNvSpPr txBox="1"/>
          <p:nvPr/>
        </p:nvSpPr>
        <p:spPr>
          <a:xfrm>
            <a:off x="114300" y="161365"/>
            <a:ext cx="891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5 Similar Book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603301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8475" y="3559175"/>
            <a:ext cx="9093300" cy="7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ALL THE BEST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C96DBA-1DDD-425D-2E90-3C5C4FEAC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13" y="347040"/>
            <a:ext cx="7354957" cy="18387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246</Words>
  <Application>Microsoft Office PowerPoint</Application>
  <PresentationFormat>On-screen Show (16:9)</PresentationFormat>
  <Paragraphs>37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Cambria Math</vt:lpstr>
      <vt:lpstr>Arial</vt:lpstr>
      <vt:lpstr>Figtree ExtraBold</vt:lpstr>
      <vt:lpstr>Simple Light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 THE BEST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maniratnam vempali</dc:creator>
  <cp:lastModifiedBy>charan raj</cp:lastModifiedBy>
  <cp:revision>9</cp:revision>
  <dcterms:modified xsi:type="dcterms:W3CDTF">2024-11-26T09:37:25Z</dcterms:modified>
</cp:coreProperties>
</file>